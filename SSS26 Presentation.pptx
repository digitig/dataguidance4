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74295" autoAdjust="0"/>
  </p:normalViewPr>
  <p:slideViewPr>
    <p:cSldViewPr snapToGrid="0">
      <p:cViewPr varScale="1">
        <p:scale>
          <a:sx n="120" d="100"/>
          <a:sy n="120" d="100"/>
        </p:scale>
        <p:origin x="10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1DBCB-93EB-448A-9FCE-5AB736C9EBF4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87DA9-BDE9-4476-9CDA-60F7F6CACD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00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I’ll talk about what data safety is, and Divya will talk about what can be done to assure it.</a:t>
            </a:r>
            <a:br>
              <a:rPr lang="en-GB" dirty="0"/>
            </a:br>
            <a:r>
              <a:rPr lang="en-GB" dirty="0"/>
              <a:t>Point out that data safety can be intimately tied in with overall safety…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87DA9-BDE9-4476-9CDA-60F7F6CACD3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651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87DA9-BDE9-4476-9CDA-60F7F6CACD3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177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err="1"/>
              <a:t>Poncheon</a:t>
            </a:r>
            <a:r>
              <a:rPr lang="en-GB" dirty="0"/>
              <a:t>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the 6 March 2025, two South Korean KF-16 fighters released four MK-82 bombs each on a civilian area in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Poncheon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South Korea, during a live-fire military exercise. The bombing injured nearly 30 people, seriously, and caused extensive property damage. Initial investigations found the pilot of one of the KF-16s entered the wrong coordinates for a bombing site.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don’t know whether there were any other factors led to the wrong coordinates being entered.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Horizon: That’s just one of the data issues with Horizon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Initial data issue involved database transaction not being atomic.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87DA9-BDE9-4476-9CDA-60F7F6CACD3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64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Tandem Insulin Pump – over 300 injuries, some requiring hospitalisation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87DA9-BDE9-4476-9CDA-60F7F6CACD3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154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Hand over to Divya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87DA9-BDE9-4476-9CDA-60F7F6CACD3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91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B424-B03E-2107-A3C9-351F3D395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045F3-43C7-4E8B-7AB6-E1738A16B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88DE-327E-E9A4-F6AE-851B1850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823" y="5821261"/>
            <a:ext cx="2743200" cy="365125"/>
          </a:xfrm>
        </p:spPr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642E1-DF0E-B847-65EB-E59257453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9223" y="5821261"/>
            <a:ext cx="4114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3F3E-68E5-C733-2260-FE87EEC0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1223" y="5821261"/>
            <a:ext cx="2743200" cy="365125"/>
          </a:xfrm>
        </p:spPr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network made up of connected lines and dots">
            <a:extLst>
              <a:ext uri="{FF2B5EF4-FFF2-40B4-BE49-F238E27FC236}">
                <a16:creationId xmlns:a16="http://schemas.microsoft.com/office/drawing/2014/main" id="{93A2DE0A-1537-C799-4213-5C66201CE6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34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19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E888-44A7-1219-CBCD-E3DAA43B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A58B-9B6C-F10A-A946-4E1630386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7BA27-906B-C54F-1139-8C6644B4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96BE6-A33D-CF0D-712F-3B3DAE0A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A98BD-9391-A737-13D5-64BD7579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9E5F-09E7-9874-FDA4-C5E7A328E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3CDD-4CFF-865F-929E-C1B95DFD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82720-C9FB-A7F5-B59B-062E703A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35886-B620-8B61-5997-035A9CBD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A3E6A-F411-025B-6BEB-7B7A4BC0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90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7979-415A-202E-8570-991606A8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37AD-C73B-152C-4095-23B6B54F2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5F5B2-E0A6-0E2C-AB5E-F01C164AB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78B7-5794-4CD6-D8ED-A6F85C127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024E-EA46-0043-C00F-46379F31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A64-592D-A4F5-F8B1-F30E3F54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75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4555-52F4-8266-E520-0CADDF98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2E6EC-1A51-6DEC-64AB-7E677FB7E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5068-5C88-C304-2B60-1F052AD1D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66992-DA29-659A-0385-FAA3EC321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CBDFE-022E-F028-C902-DA43AF2DE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C4319-84C1-3FEF-8665-4BEB1498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CDD51-6A7E-EEE4-358F-82AF2CDD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D6BA3-547F-D930-661D-43D56BD2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97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C015-AD78-B503-8958-0EDA7C2F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C4A35-A4B4-96EA-9E58-4A1BEE85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45D0-D308-91A0-778E-7543C1A48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6957E-411B-AA33-815A-FA9C5DEB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825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05124-1831-1E8B-76F1-8A3F03EA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48392-04FA-8238-ED59-7319F92FA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DEAAF-490F-087E-2770-B0629134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02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84F5-9163-CD53-E747-6B5CD56F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8FA8B-F15F-74CD-8D9D-473CD00CA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A127F-DF2B-2A82-CDFE-9D0B915DD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7485D-920D-FBBF-5ED8-E03A1644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00761-CD7C-D462-1758-FA855023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27AC5-BE26-67F4-E32A-11CC80010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85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E707-BA00-A9B3-4F9F-0DA9AF44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52107-57CD-6D01-18B9-C01742124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09E41-4E25-8D34-6E51-6FD38AFB4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9AD5E-DA03-1289-E5DD-7FF56973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F64B-DAF0-13F4-77EF-62C8501F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EBB2F-E336-0FD4-2627-5B015656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7907-9A60-863D-15AA-DE69E72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FD0FA-BF6C-EBF0-0695-1C3DEA2C1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CB5A5-7E4D-AE73-872D-57401E04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0ED71-F5DA-5687-B9BF-59F64130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81C5C-1C96-F9AF-FC61-59E4E48D7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254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17ACB-873F-DD84-4E0B-784B7C289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8BC0A-FFA1-83D3-A5CD-01FBABE80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04D9B-2671-74DE-8ADC-3A0DDB491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34863-5D49-74C6-E7B1-F0AAD889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AF379-D4FE-728A-127D-4DE25049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21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D69338-DAE4-432F-0594-304FAE10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7AD52-CA47-E7FD-DE4B-CBF0973DE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9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EFA78-F95A-7645-6558-2EF8232B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715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83E12-1B2C-41D1-8CBE-C650A1B2DB17}" type="datetimeFigureOut">
              <a:rPr lang="en-GB" smtClean="0"/>
              <a:t>05/02/2026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3A7E3-0039-8CB3-E49F-1ED52A9C2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7150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8AFDF-F9E4-13C5-DCDA-0E3B9BFE0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715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04F2E-9DCA-4E34-98F1-6A35D23C631B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95CECA-204A-1CE3-AD54-5426321104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185033"/>
            <a:ext cx="12192000" cy="67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5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653F-E7ED-1643-A31E-12BB46D38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65461"/>
            <a:ext cx="9144000" cy="1096244"/>
          </a:xfrm>
        </p:spPr>
        <p:txBody>
          <a:bodyPr/>
          <a:lstStyle/>
          <a:p>
            <a:r>
              <a:rPr lang="en-GB" dirty="0"/>
              <a:t>How to Be Data Safe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F8EB7-A7AC-D385-8BD8-DC69B55FD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66827"/>
            <a:ext cx="9144000" cy="431343"/>
          </a:xfrm>
        </p:spPr>
        <p:txBody>
          <a:bodyPr/>
          <a:lstStyle/>
          <a:p>
            <a:r>
              <a:rPr lang="en-GB" dirty="0"/>
              <a:t>Timothy Rowe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E82E8-F8EE-AD66-7A5B-9CA76D918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57627"/>
            <a:ext cx="2380555" cy="3174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FCF107-2596-36CF-4526-FDE2629CBB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80" y="3057626"/>
            <a:ext cx="2380554" cy="3174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8A15E5-613B-D192-64E5-1AA3C0ECF4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444" y="3057626"/>
            <a:ext cx="2380555" cy="317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21C6-474E-8D65-069B-FF904609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36BD-FEB2-35D1-AD72-515D1ED5B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65461"/>
            <a:ext cx="9144000" cy="1096244"/>
          </a:xfrm>
        </p:spPr>
        <p:txBody>
          <a:bodyPr/>
          <a:lstStyle/>
          <a:p>
            <a:r>
              <a:rPr lang="en-GB" dirty="0"/>
              <a:t>How to Be Data Safe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6CD66-6DFC-0667-9F38-C384BC8D9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66827"/>
            <a:ext cx="9144000" cy="431343"/>
          </a:xfrm>
        </p:spPr>
        <p:txBody>
          <a:bodyPr/>
          <a:lstStyle/>
          <a:p>
            <a:r>
              <a:rPr lang="en-GB" dirty="0"/>
              <a:t>Timothy Rowe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92250-56FF-5F92-92AF-D4836C87B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057627"/>
            <a:ext cx="2380555" cy="3174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01A53-C9EE-9372-649D-CF8907654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80" y="3057626"/>
            <a:ext cx="2380554" cy="3174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2CCC53-DCB8-298D-AAFD-55BB5C33A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444" y="3057626"/>
            <a:ext cx="2380555" cy="31740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A2799F-086B-DED2-8752-03F17992FD61}"/>
              </a:ext>
            </a:extLst>
          </p:cNvPr>
          <p:cNvSpPr/>
          <p:nvPr/>
        </p:nvSpPr>
        <p:spPr>
          <a:xfrm rot="20495054">
            <a:off x="6221021" y="917794"/>
            <a:ext cx="1595195" cy="2002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20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F531-04B9-69BA-7100-9DC12C07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Data Cause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4141D-2DB8-6D1B-ECCC-6F0CDF367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73012" cy="3794125"/>
          </a:xfrm>
        </p:spPr>
        <p:txBody>
          <a:bodyPr/>
          <a:lstStyle/>
          <a:p>
            <a:r>
              <a:rPr lang="en-GB" dirty="0"/>
              <a:t>Only as part of a system (like software)</a:t>
            </a:r>
          </a:p>
          <a:p>
            <a:r>
              <a:rPr lang="en-GB" dirty="0"/>
              <a:t>Can be a direct relationship to harm</a:t>
            </a:r>
          </a:p>
          <a:p>
            <a:pPr lvl="1"/>
            <a:r>
              <a:rPr lang="en-GB" dirty="0" err="1"/>
              <a:t>Poncheon</a:t>
            </a:r>
            <a:r>
              <a:rPr lang="en-GB" dirty="0"/>
              <a:t> bombing</a:t>
            </a:r>
          </a:p>
          <a:p>
            <a:pPr lvl="2"/>
            <a:r>
              <a:rPr lang="en-GB" dirty="0"/>
              <a:t>Wrong bombing coordinates</a:t>
            </a:r>
          </a:p>
          <a:p>
            <a:r>
              <a:rPr lang="en-GB" dirty="0"/>
              <a:t>Can be a complex relationship to harm</a:t>
            </a:r>
          </a:p>
          <a:p>
            <a:pPr lvl="1"/>
            <a:r>
              <a:rPr lang="en-GB" dirty="0"/>
              <a:t>Post office Horizon system</a:t>
            </a:r>
          </a:p>
          <a:p>
            <a:pPr lvl="2"/>
            <a:r>
              <a:rPr lang="en-GB" dirty="0"/>
              <a:t>Hardware issue triggered a software issue that </a:t>
            </a:r>
            <a:r>
              <a:rPr lang="en-GB" b="1" dirty="0"/>
              <a:t>triggered a database issue</a:t>
            </a:r>
            <a:r>
              <a:rPr lang="en-GB" dirty="0"/>
              <a:t> that triggered an inappropriate institutional response</a:t>
            </a:r>
          </a:p>
        </p:txBody>
      </p:sp>
      <p:pic>
        <p:nvPicPr>
          <p:cNvPr id="1026" name="Picture 2" descr="Information hazard : r/wikipedia">
            <a:extLst>
              <a:ext uri="{FF2B5EF4-FFF2-40B4-BE49-F238E27FC236}">
                <a16:creationId xmlns:a16="http://schemas.microsoft.com/office/drawing/2014/main" id="{44B545FE-7040-450F-592A-7A8E8873F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479" y="1825625"/>
            <a:ext cx="1858630" cy="24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693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DA48-9A35-5FDF-6809-6274DD08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 Data Safety Already Managed?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ACCEE-6C7B-0587-6448-EB4A06C38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9553" cy="3794125"/>
          </a:xfrm>
        </p:spPr>
        <p:txBody>
          <a:bodyPr/>
          <a:lstStyle/>
          <a:p>
            <a:r>
              <a:rPr lang="en-GB" dirty="0"/>
              <a:t>Often, Yes</a:t>
            </a:r>
          </a:p>
          <a:p>
            <a:pPr lvl="1"/>
            <a:r>
              <a:rPr lang="en-GB" dirty="0"/>
              <a:t>E.g. typical hazard identification processes will include consideration of hazardously misleading information</a:t>
            </a:r>
          </a:p>
          <a:p>
            <a:r>
              <a:rPr lang="en-GB" dirty="0"/>
              <a:t>But not always</a:t>
            </a:r>
          </a:p>
          <a:p>
            <a:pPr lvl="1"/>
            <a:r>
              <a:rPr lang="en-GB" dirty="0"/>
              <a:t>Some types of data issue can be tricky to spot</a:t>
            </a:r>
          </a:p>
          <a:p>
            <a:pPr lvl="2"/>
            <a:r>
              <a:rPr lang="en-GB" dirty="0"/>
              <a:t>Unexpected relationships (Tandem Insulin Pump)</a:t>
            </a:r>
          </a:p>
          <a:p>
            <a:pPr lvl="2"/>
            <a:r>
              <a:rPr lang="en-GB" dirty="0"/>
              <a:t>Change of use not properly analysed (Ariane 5)</a:t>
            </a:r>
          </a:p>
          <a:p>
            <a:pPr lvl="2"/>
            <a:r>
              <a:rPr lang="en-GB" dirty="0"/>
              <a:t>Etc.</a:t>
            </a:r>
          </a:p>
        </p:txBody>
      </p:sp>
      <p:pic>
        <p:nvPicPr>
          <p:cNvPr id="2052" name="Picture 4" descr="Air Traffic Control Radar Display Stock Photo | Adobe Stock">
            <a:extLst>
              <a:ext uri="{FF2B5EF4-FFF2-40B4-BE49-F238E27FC236}">
                <a16:creationId xmlns:a16="http://schemas.microsoft.com/office/drawing/2014/main" id="{34D13DC8-E689-4AAC-3533-8EB7CF582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662" y="1825625"/>
            <a:ext cx="3292089" cy="219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510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CB9D-BC3A-AD75-873E-34C0051A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 We’ve Produced Guidance!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7AAEB-AA44-5B2D-143D-15D3DDC6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670006" cy="3794125"/>
          </a:xfrm>
        </p:spPr>
        <p:txBody>
          <a:bodyPr/>
          <a:lstStyle/>
          <a:p>
            <a:r>
              <a:rPr lang="en-GB" dirty="0"/>
              <a:t>Data Safety Initiative Working Group set up in 2012</a:t>
            </a:r>
          </a:p>
          <a:p>
            <a:pPr lvl="1"/>
            <a:r>
              <a:rPr lang="en-GB" dirty="0"/>
              <a:t>To formulate best practice</a:t>
            </a:r>
          </a:p>
          <a:p>
            <a:pPr lvl="1"/>
            <a:r>
              <a:rPr lang="en-GB" dirty="0"/>
              <a:t>Combines industry and academia</a:t>
            </a:r>
          </a:p>
          <a:p>
            <a:r>
              <a:rPr lang="en-GB" dirty="0"/>
              <a:t>New version 4.0</a:t>
            </a:r>
          </a:p>
          <a:p>
            <a:pPr lvl="1"/>
            <a:r>
              <a:rPr lang="en-GB" dirty="0"/>
              <a:t>Split into 3 volumes</a:t>
            </a:r>
          </a:p>
          <a:p>
            <a:pPr lvl="1"/>
            <a:r>
              <a:rPr lang="en-GB" dirty="0"/>
              <a:t>Harmonised content</a:t>
            </a:r>
          </a:p>
          <a:p>
            <a:pPr lvl="1"/>
            <a:r>
              <a:rPr lang="en-GB" dirty="0"/>
              <a:t>Increased normative content</a:t>
            </a:r>
          </a:p>
          <a:p>
            <a:pPr lvl="1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4D306-41C5-B702-199C-AF845F82C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205" y="1825624"/>
            <a:ext cx="2845594" cy="379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7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F5D5-5770-00B1-46A7-6C27CCDE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the Guidance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337C7C7-2F03-7832-ADE0-2D2EF8309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27602" y="1690688"/>
            <a:ext cx="3026198" cy="379412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F6141D-BE20-1A4A-46C9-844B46EA7D73}"/>
              </a:ext>
            </a:extLst>
          </p:cNvPr>
          <p:cNvSpPr txBox="1"/>
          <p:nvPr/>
        </p:nvSpPr>
        <p:spPr>
          <a:xfrm>
            <a:off x="985962" y="1558456"/>
            <a:ext cx="730724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Volume 1: What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Principles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Volume 2: How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Activities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Detailed Guidance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Volume 3: Why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(Mainly!)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Scenarios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Incidents and accidents</a:t>
            </a:r>
          </a:p>
          <a:p>
            <a:r>
              <a:rPr lang="en-GB" sz="3200" dirty="0"/>
              <a:t>This workshop concentrates on How</a:t>
            </a:r>
          </a:p>
        </p:txBody>
      </p:sp>
    </p:spTree>
    <p:extLst>
      <p:ext uri="{BB962C8B-B14F-4D97-AF65-F5344CB8AC3E}">
        <p14:creationId xmlns:p14="http://schemas.microsoft.com/office/powerpoint/2010/main" val="693576560"/>
      </p:ext>
    </p:extLst>
  </p:cSld>
  <p:clrMapOvr>
    <a:masterClrMapping/>
  </p:clrMapOvr>
</p:sld>
</file>

<file path=ppt/theme/theme1.xml><?xml version="1.0" encoding="utf-8"?>
<a:theme xmlns:a="http://schemas.openxmlformats.org/drawingml/2006/main" name="TGR Safe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GR Safety.potx" id="{60AE1306-D2BB-4D26-BAAA-98D6F45C122C}" vid="{E609775B-8671-4DD6-840F-0C1F2446DF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TGR Safety</Template>
  <TotalTime>0</TotalTime>
  <Words>355</Words>
  <Application>Microsoft Office PowerPoint</Application>
  <PresentationFormat>Widescreen</PresentationFormat>
  <Paragraphs>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TGR Safety</vt:lpstr>
      <vt:lpstr>How to Be Data Safe</vt:lpstr>
      <vt:lpstr>How to Be Data Safe</vt:lpstr>
      <vt:lpstr>How Does Data Cause Hazards</vt:lpstr>
      <vt:lpstr>Is Data Safety Already Managed?</vt:lpstr>
      <vt:lpstr>So We’ve Produced Guidance!</vt:lpstr>
      <vt:lpstr>Structure of the Guidance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Rowe</dc:creator>
  <cp:lastModifiedBy>Tim Rowe</cp:lastModifiedBy>
  <cp:revision>8</cp:revision>
  <dcterms:created xsi:type="dcterms:W3CDTF">2026-02-05T09:52:15Z</dcterms:created>
  <dcterms:modified xsi:type="dcterms:W3CDTF">2026-02-06T21:10:33Z</dcterms:modified>
</cp:coreProperties>
</file>